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60" r:id="rId3"/>
    <p:sldId id="257" r:id="rId4"/>
    <p:sldId id="261" r:id="rId5"/>
    <p:sldId id="263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42" autoAdjust="0"/>
    <p:restoredTop sz="80563" autoAdjust="0"/>
  </p:normalViewPr>
  <p:slideViewPr>
    <p:cSldViewPr snapToGrid="0">
      <p:cViewPr>
        <p:scale>
          <a:sx n="81" d="100"/>
          <a:sy n="81" d="100"/>
        </p:scale>
        <p:origin x="202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2EF92-C927-42F1-8C1E-4E123149FE51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F191F-8B5C-4985-94DE-F0D3BFA8BB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672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Instead of relying on a single end-to-end model, I propose a hybrid modular architecture where different sub-models detect key violence indicators</a:t>
            </a:r>
          </a:p>
          <a:p>
            <a:endParaRPr lang="en-GB" dirty="0"/>
          </a:p>
          <a:p>
            <a:r>
              <a:rPr lang="en-GB" dirty="0"/>
              <a:t>weapons, aggressive actions, and violent audio events. These are fused into a frame-wise violence signal.</a:t>
            </a:r>
          </a:p>
          <a:p>
            <a:endParaRPr lang="en-GB" dirty="0"/>
          </a:p>
          <a:p>
            <a:r>
              <a:rPr lang="en-GB" dirty="0"/>
              <a:t>The final classification is made via </a:t>
            </a:r>
            <a:r>
              <a:rPr lang="en-GB" dirty="0" err="1"/>
              <a:t>ResNet</a:t>
            </a:r>
            <a:r>
              <a:rPr lang="en-GB" dirty="0"/>
              <a:t> layers followed by a fully connected layer.”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F191F-8B5C-4985-94DE-F0D3BFA8BB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192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02231-320D-0B48-4057-704AFB660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DF8AB5-4074-E896-CD27-9AD1F2892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238D6-8902-361C-AA33-809B527BE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72E05-8666-DE4E-F727-136B56A8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12B8FF-946A-1760-DEE2-04E7AF50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3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BD05E-65DB-FC24-A3C5-187EF10A6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0CB64D-CF6A-64C9-39C1-90861915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35A9E-9532-4538-22D4-7F6E74C8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035D7B-15DA-CF17-5F2C-7C97A0B5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D06C14-4BAC-BC57-2449-CCCB2E8D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068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4D4D7-DFB3-122A-EC9E-3C351EE67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FA3DA-6332-ADFE-E8BE-AB225EE3B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0C36FC-6AEE-D2E3-850A-20EB3D0E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94157-2F14-557E-ED2C-D5145CE6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84BB7-F741-8051-6758-789024BD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09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B9A35-71FF-C575-4D5C-7C23697E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E8CC1E-DBC2-AE5E-C280-F3EB9FF68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D3706-F6DE-A214-C408-84EFB602F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B937BB-ED80-1B7B-6635-71C2FC45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4BA860-89B5-D0A8-08E0-43E83E6AC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CA9681-3B1C-8CC6-6A14-E7B237A2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1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0D34B-A8B8-9F8B-3E2B-46B976AA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E52D1C-A7AE-B5DA-3E3E-FD6BBC850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0CF24E-86C8-F4DF-0B89-745BCA5E3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FC8F17-E2A3-F9ED-3E34-23E106B65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808812-E7C1-DDEB-7E2C-E8166D46E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D9C999-B829-85C7-7F34-0714757E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A675A2E-EAE3-EEF6-A863-0C3FA06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CAA73DA-7BC7-4761-D352-D9B1D3C0B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0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F52F8-BEE9-E807-812C-D585F467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D7A352-0ABF-34FE-9346-1E03FF82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A763A2-F194-2447-DEAC-438F0FEE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B16D76-5A75-84E4-15CF-0BDAE881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73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85BCC7-9F86-6635-7B58-9299D8F2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80B80C-DFC7-B5DF-9C2E-B9E6F263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AE8A98-FF44-4279-C274-F9C96AB1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4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0F7A6-56DF-AC05-3BC0-8D9C07199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2F5EFD-9C18-B055-C002-B3C2F1368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2FDDB9-B26A-FDAB-A947-857C193E2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B2D952-69B3-CC57-F5FC-8CC4CD58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74D0BA-5A62-8F36-EFF7-A9F28DAF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C73B50-D61D-B8CE-2BFC-1D0783A8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22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382B8-5A66-1B40-7814-632513F6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A76D757-CE8B-70E4-9C91-C56B69134C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9826D8-0A4F-3DDC-790A-CFF1511B7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87EF95-0887-AE43-468F-1D03359D5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2AC24B-2A9A-5680-6D2F-EA785840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40EF0E-4274-E0BE-B9B7-F9B3739DA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62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95323-8EF9-C6EE-863A-AFEA8931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0359A3-BEB2-EB5E-1B35-760A786F3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2D813C-C18A-F7D0-01C7-433BF483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26E80-4DEA-D584-5AFD-CFFED3C6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92E2A-8F22-A1E7-FBC0-717E276A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0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2EE1C0-3C71-E493-D728-58CF18F6C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E947CA-1F6E-B058-6BE1-90028E930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979D19-85CB-059F-41F4-21CA89B6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71A0C-A612-EFD4-FE8D-2760CB667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3B37A0-BC5E-FA9C-409F-31E744A1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06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4CFCD1-6E79-69D8-5F04-7C06141A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2" y="163417"/>
            <a:ext cx="11557746" cy="4954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  <a:endParaRPr lang="en-GB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1CE20A-F13C-430D-F90C-CEE8D9B3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281" y="907676"/>
            <a:ext cx="11557747" cy="5269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GB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5E5144-9EC0-E924-7897-559C4D274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10582-BA96-4CC6-B4E5-A39DED6A74D2}" type="datetimeFigureOut">
              <a:rPr lang="en-GB" smtClean="0"/>
              <a:t>23/05/2025</a:t>
            </a:fld>
            <a:endParaRPr lang="en-GB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75AFEB-1D13-4C0F-9797-21AF2710B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FF8C4-509F-9EB6-3B8D-6503701E7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F816C-AC2F-4513-9670-01C7185B21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35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25D8D-7966-85DD-292A-FFF37263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review so far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3C51B-DB11-3DED-77AF-426AF4EDC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281" y="907676"/>
            <a:ext cx="11557747" cy="5786907"/>
          </a:xfrm>
        </p:spPr>
        <p:txBody>
          <a:bodyPr>
            <a:noAutofit/>
          </a:bodyPr>
          <a:lstStyle/>
          <a:p>
            <a:r>
              <a:rPr lang="en-GB" sz="2000" dirty="0"/>
              <a:t>Early studies:</a:t>
            </a:r>
          </a:p>
          <a:p>
            <a:pPr lvl="1"/>
            <a:r>
              <a:rPr lang="en-GB" sz="1800" dirty="0"/>
              <a:t>Focused on short, trimmed clips in constrained environments</a:t>
            </a:r>
          </a:p>
          <a:p>
            <a:pPr marL="457200" lvl="1" indent="0">
              <a:buNone/>
            </a:pPr>
            <a:r>
              <a:rPr lang="en-GB" sz="1800" dirty="0"/>
              <a:t>  (e.g. Hockey Fight, Movie Fight datasets).</a:t>
            </a:r>
          </a:p>
          <a:p>
            <a:r>
              <a:rPr lang="en-GB" sz="2000" dirty="0"/>
              <a:t>Modalities used</a:t>
            </a:r>
          </a:p>
          <a:p>
            <a:pPr lvl="1"/>
            <a:r>
              <a:rPr lang="en-GB" sz="1800" dirty="0"/>
              <a:t>Mostly visual-only approaches with limited use of audio or other cues.</a:t>
            </a:r>
          </a:p>
          <a:p>
            <a:r>
              <a:rPr lang="en-GB" sz="2000" dirty="0"/>
              <a:t>Feature engineering</a:t>
            </a:r>
          </a:p>
          <a:p>
            <a:pPr lvl="1"/>
            <a:r>
              <a:rPr lang="en-GB" sz="1800" dirty="0"/>
              <a:t>Relied heavily on hand-crafted features (e.g. optical flow, motion vectors) instead of deep learning.</a:t>
            </a:r>
          </a:p>
          <a:p>
            <a:r>
              <a:rPr lang="en-GB" sz="2000" dirty="0"/>
              <a:t>Limitations Identified</a:t>
            </a:r>
          </a:p>
          <a:p>
            <a:pPr lvl="1"/>
            <a:r>
              <a:rPr lang="en-GB" sz="1800" dirty="0"/>
              <a:t>Lack of real-world complexity (e.g. crowd density, occlusion)</a:t>
            </a:r>
          </a:p>
          <a:p>
            <a:pPr lvl="1"/>
            <a:r>
              <a:rPr lang="en-GB" sz="1800" dirty="0"/>
              <a:t>Poor generalisation to untrimmed, noisy surveillance videos</a:t>
            </a:r>
          </a:p>
          <a:p>
            <a:pPr lvl="1"/>
            <a:r>
              <a:rPr lang="en-GB" sz="1800" dirty="0"/>
              <a:t>Few models trained with weak supervision</a:t>
            </a:r>
          </a:p>
          <a:p>
            <a:pPr lvl="1"/>
            <a:r>
              <a:rPr lang="en-GB" sz="1800" dirty="0"/>
              <a:t>Limited multimodal integration (vision + audio)</a:t>
            </a:r>
          </a:p>
          <a:p>
            <a:r>
              <a:rPr lang="en-GB" sz="2000" dirty="0"/>
              <a:t>Recent Advances (e.g. XD-Violence, ECCV 2020):</a:t>
            </a:r>
          </a:p>
          <a:p>
            <a:pPr lvl="1"/>
            <a:r>
              <a:rPr lang="en-GB" sz="1800" dirty="0"/>
              <a:t>Use of multimodal data (video + audio)</a:t>
            </a:r>
          </a:p>
          <a:p>
            <a:pPr lvl="1"/>
            <a:r>
              <a:rPr lang="en-GB" sz="1800" dirty="0"/>
              <a:t>Training with weak labels over untrimmed video</a:t>
            </a:r>
          </a:p>
          <a:p>
            <a:pPr lvl="1"/>
            <a:r>
              <a:rPr lang="en-GB" sz="1800" dirty="0"/>
              <a:t>Focus on online detection, not just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03668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C5C8F-6B17-E71D-1177-F96235CD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used: XD-violence dataset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C1CD2-70A6-7D37-607D-29BFB7DFB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Released by researchers from </a:t>
            </a:r>
            <a:r>
              <a:rPr lang="en-GB" dirty="0" err="1"/>
              <a:t>Xidian</a:t>
            </a:r>
            <a:r>
              <a:rPr lang="en-GB" dirty="0"/>
              <a:t> University</a:t>
            </a:r>
          </a:p>
          <a:p>
            <a:r>
              <a:rPr lang="en-GB" dirty="0"/>
              <a:t>Introduced in ECCV 2020 (Poster Presentation)</a:t>
            </a:r>
          </a:p>
          <a:p>
            <a:r>
              <a:rPr lang="en-GB" dirty="0">
                <a:solidFill>
                  <a:srgbClr val="0000FF"/>
                </a:solidFill>
              </a:rPr>
              <a:t>Contains 4754 untrimmed videos, totalling 217 hours</a:t>
            </a:r>
          </a:p>
          <a:p>
            <a:pPr marL="0" indent="0">
              <a:buNone/>
            </a:pPr>
            <a:r>
              <a:rPr lang="en-GB" dirty="0">
                <a:solidFill>
                  <a:srgbClr val="0000FF"/>
                </a:solidFill>
              </a:rPr>
              <a:t>   * But only 3,703 videos(2,903 training, 800 testing) accessible</a:t>
            </a:r>
          </a:p>
          <a:p>
            <a:r>
              <a:rPr lang="en-GB" dirty="0"/>
              <a:t>Includes both video and audio modalities</a:t>
            </a:r>
          </a:p>
          <a:p>
            <a:r>
              <a:rPr lang="en-GB" dirty="0"/>
              <a:t>Uses weak labels (violence tagged at video-level, not frame-level)</a:t>
            </a:r>
          </a:p>
          <a:p>
            <a:r>
              <a:rPr lang="en-GB" dirty="0"/>
              <a:t>Designed for multi-scene, real-world surveillance settings</a:t>
            </a:r>
          </a:p>
          <a:p>
            <a:r>
              <a:rPr lang="en-GB" dirty="0"/>
              <a:t>Enables multimodal learning and online (real-time) detection research</a:t>
            </a:r>
          </a:p>
          <a:p>
            <a:r>
              <a:rPr lang="en-GB" dirty="0">
                <a:solidFill>
                  <a:srgbClr val="FF0000"/>
                </a:solidFill>
              </a:rPr>
              <a:t>Addresses limitations of earlier datasets (short clips, single modality)</a:t>
            </a:r>
          </a:p>
        </p:txBody>
      </p:sp>
    </p:spTree>
    <p:extLst>
      <p:ext uri="{BB962C8B-B14F-4D97-AF65-F5344CB8AC3E}">
        <p14:creationId xmlns:p14="http://schemas.microsoft.com/office/powerpoint/2010/main" val="184412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6E28A-E67B-837E-D51B-9C6A92CD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Modular neural network architecture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B0AF7F-C880-6F4F-0BD6-4571D185F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281" y="820272"/>
            <a:ext cx="11557747" cy="5356692"/>
          </a:xfrm>
        </p:spPr>
        <p:txBody>
          <a:bodyPr>
            <a:noAutofit/>
          </a:bodyPr>
          <a:lstStyle/>
          <a:p>
            <a:r>
              <a:rPr lang="en-GB" sz="2000" dirty="0"/>
              <a:t>Past researches mainly focus on action recognition using CNN+LSTM or 3D CNNs</a:t>
            </a:r>
          </a:p>
          <a:p>
            <a:r>
              <a:rPr lang="en-GB" sz="2000" dirty="0"/>
              <a:t>However, many violent events involve multiple features, such as:</a:t>
            </a:r>
          </a:p>
          <a:p>
            <a:pPr marL="447675" lvl="1"/>
            <a:r>
              <a:rPr lang="en-GB" sz="1600" dirty="0"/>
              <a:t>Presence of weapons (e.g. knife, gun)</a:t>
            </a:r>
          </a:p>
          <a:p>
            <a:pPr marL="447675" lvl="1"/>
            <a:r>
              <a:rPr lang="en-GB" sz="1600" dirty="0"/>
              <a:t>Sudden explosions or screams</a:t>
            </a:r>
          </a:p>
          <a:p>
            <a:pPr marL="447675" lvl="1"/>
            <a:r>
              <a:rPr lang="en-GB" sz="1600" dirty="0"/>
              <a:t>Crowd panic or fleeing behaviour</a:t>
            </a:r>
          </a:p>
          <a:p>
            <a:r>
              <a:rPr lang="en-GB" sz="2000" dirty="0"/>
              <a:t>Studies like [XD-Violence, 2020] and [UCF-Crime, 2018] attempt end-to-end classification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2000" dirty="0"/>
              <a:t>   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→ </a:t>
            </a:r>
            <a:r>
              <a:rPr lang="en-GB" sz="2000" dirty="0"/>
              <a:t>but lack fine-grained interpretability or early warning.</a:t>
            </a:r>
          </a:p>
          <a:p>
            <a:r>
              <a:rPr lang="en-GB" sz="2000" dirty="0">
                <a:solidFill>
                  <a:srgbClr val="0000FF"/>
                </a:solidFill>
              </a:rPr>
              <a:t>Inspired by modular deep learning and multimodal learning, this design splits the problem:</a:t>
            </a:r>
          </a:p>
          <a:p>
            <a:pPr marL="447675" lvl="1"/>
            <a:r>
              <a:rPr lang="en-GB" sz="1600" dirty="0"/>
              <a:t>Detecting visual threats (weapon)</a:t>
            </a:r>
          </a:p>
          <a:p>
            <a:pPr marL="447675" lvl="1"/>
            <a:r>
              <a:rPr lang="en-GB" sz="1600" dirty="0"/>
              <a:t>Recognising acoustic signals (explosions, screams)</a:t>
            </a:r>
          </a:p>
          <a:p>
            <a:pPr marL="447675" lvl="1"/>
            <a:r>
              <a:rPr lang="en-GB" sz="1600" dirty="0"/>
              <a:t>Tracking crowd behaviour (panic)</a:t>
            </a:r>
          </a:p>
          <a:p>
            <a:pPr marL="447675" lvl="1"/>
            <a:r>
              <a:rPr lang="en-GB" sz="1600" dirty="0"/>
              <a:t>Recognising aggressive actions (punching, kicking)</a:t>
            </a:r>
            <a:endParaRPr lang="en-GB" sz="2000" dirty="0"/>
          </a:p>
          <a:p>
            <a:r>
              <a:rPr lang="en-GB" sz="2000" dirty="0"/>
              <a:t>This enables:</a:t>
            </a:r>
          </a:p>
          <a:p>
            <a:pPr marL="358775" lvl="1"/>
            <a:r>
              <a:rPr lang="en-GB" sz="1600" dirty="0"/>
              <a:t>Better interpretability</a:t>
            </a:r>
          </a:p>
          <a:p>
            <a:pPr marL="358775" lvl="1"/>
            <a:r>
              <a:rPr lang="en-GB" sz="1600" dirty="0"/>
              <a:t>Potential for early warning</a:t>
            </a:r>
          </a:p>
          <a:p>
            <a:pPr marL="358775" lvl="1"/>
            <a:r>
              <a:rPr lang="en-GB" sz="1600" dirty="0"/>
              <a:t>Scalability across domains (e.g., schools, stations)</a:t>
            </a:r>
          </a:p>
        </p:txBody>
      </p:sp>
    </p:spTree>
    <p:extLst>
      <p:ext uri="{BB962C8B-B14F-4D97-AF65-F5344CB8AC3E}">
        <p14:creationId xmlns:p14="http://schemas.microsoft.com/office/powerpoint/2010/main" val="1814261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6FE03-0C29-AFEA-1E02-417F137F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4E310F2-DF5F-C46E-7FFA-0C927A7C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9531"/>
            <a:ext cx="12192000" cy="321893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1136780-379D-B6EC-3A6D-AA40229B7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07" y="4327323"/>
            <a:ext cx="9227024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9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989A9D-177C-D5AC-B423-0BF470AC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559AAC-CB4B-7C14-3C8D-0450B95E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9531"/>
            <a:ext cx="12192000" cy="321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6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생성된 이미지">
            <a:extLst>
              <a:ext uri="{FF2B5EF4-FFF2-40B4-BE49-F238E27FC236}">
                <a16:creationId xmlns:a16="http://schemas.microsoft.com/office/drawing/2014/main" id="{2B795518-AD6D-68B2-C77F-AA34514CA6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25" b="10222"/>
          <a:stretch/>
        </p:blipFill>
        <p:spPr bwMode="auto">
          <a:xfrm>
            <a:off x="952500" y="1105746"/>
            <a:ext cx="10287000" cy="4646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786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27389CF6-6C3E-EC72-15CB-B1235CA2AE53}"/>
              </a:ext>
            </a:extLst>
          </p:cNvPr>
          <p:cNvGrpSpPr/>
          <p:nvPr/>
        </p:nvGrpSpPr>
        <p:grpSpPr>
          <a:xfrm>
            <a:off x="-2694248" y="297517"/>
            <a:ext cx="16609333" cy="4335861"/>
            <a:chOff x="-2694248" y="297517"/>
            <a:chExt cx="16609333" cy="4335861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77F964E-9FE5-F4EB-1B38-51871A17FAF3}"/>
                </a:ext>
              </a:extLst>
            </p:cNvPr>
            <p:cNvSpPr/>
            <p:nvPr/>
          </p:nvSpPr>
          <p:spPr>
            <a:xfrm>
              <a:off x="6027745" y="501581"/>
              <a:ext cx="3285233" cy="35102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C8C3C92-0521-4B03-26D0-68F15574F96A}"/>
                </a:ext>
              </a:extLst>
            </p:cNvPr>
            <p:cNvSpPr/>
            <p:nvPr/>
          </p:nvSpPr>
          <p:spPr>
            <a:xfrm>
              <a:off x="2891287" y="701657"/>
              <a:ext cx="2871894" cy="31047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noFill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2B2ADDC-5C72-2B5E-7107-38B8BBEF9907}"/>
                </a:ext>
              </a:extLst>
            </p:cNvPr>
            <p:cNvSpPr/>
            <p:nvPr/>
          </p:nvSpPr>
          <p:spPr>
            <a:xfrm>
              <a:off x="-2694248" y="2693578"/>
              <a:ext cx="4942070" cy="133491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Manually annotated data</a:t>
              </a:r>
            </a:p>
            <a:p>
              <a:endPara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Weapon images (for detection pretraining)</a:t>
              </a:r>
            </a:p>
            <a:p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Selected clips (for refining sub-models)</a:t>
              </a:r>
              <a:endPara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6E33044-34A5-C7FF-D275-65CFCF04AA91}"/>
                </a:ext>
              </a:extLst>
            </p:cNvPr>
            <p:cNvSpPr/>
            <p:nvPr/>
          </p:nvSpPr>
          <p:spPr>
            <a:xfrm>
              <a:off x="-2694248" y="518207"/>
              <a:ext cx="4942069" cy="1334915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>
                  <a:solidFill>
                    <a:schemeClr val="tx1"/>
                  </a:solidFill>
                </a:rPr>
                <a:t>XD-Violence Dataset (Video + Weak Labels)</a:t>
              </a:r>
            </a:p>
            <a:p>
              <a:endParaRPr lang="en-GB" dirty="0">
                <a:solidFill>
                  <a:schemeClr val="tx1"/>
                </a:solidFill>
              </a:endParaRPr>
            </a:p>
            <a:p>
              <a:r>
                <a:rPr lang="en-GB" dirty="0">
                  <a:solidFill>
                    <a:schemeClr val="tx1"/>
                  </a:solidFill>
                </a:rPr>
                <a:t>4,754 untrimmed videos</a:t>
              </a:r>
            </a:p>
            <a:p>
              <a:r>
                <a:rPr lang="en-GB" dirty="0">
                  <a:solidFill>
                    <a:schemeClr val="tx1"/>
                  </a:solidFill>
                </a:rPr>
                <a:t>Weak temporal labels for violence events 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53AC0C5-5635-8A76-00C0-0B0971A1BD9C}"/>
                </a:ext>
              </a:extLst>
            </p:cNvPr>
            <p:cNvSpPr/>
            <p:nvPr/>
          </p:nvSpPr>
          <p:spPr>
            <a:xfrm>
              <a:off x="2891287" y="297517"/>
              <a:ext cx="2871894" cy="60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Weapon detection model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(YOLOv8 or </a:t>
              </a:r>
              <a:r>
                <a:rPr lang="en-GB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EfficientDet</a:t>
              </a:r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5A897D7-B547-EA4C-BBA1-EF60E6950531}"/>
                </a:ext>
              </a:extLst>
            </p:cNvPr>
            <p:cNvSpPr/>
            <p:nvPr/>
          </p:nvSpPr>
          <p:spPr>
            <a:xfrm>
              <a:off x="2891287" y="1138399"/>
              <a:ext cx="2871894" cy="100456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Violence action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 model</a:t>
              </a:r>
            </a:p>
            <a:p>
              <a:pPr algn="ctr"/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GB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ResNet</a:t>
              </a:r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+ LSTM or 3D CNN)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4788743-F03A-FB31-6E45-E9D2DADDAE74}"/>
                </a:ext>
              </a:extLst>
            </p:cNvPr>
            <p:cNvSpPr/>
            <p:nvPr/>
          </p:nvSpPr>
          <p:spPr>
            <a:xfrm>
              <a:off x="2891287" y="2365073"/>
              <a:ext cx="2871894" cy="967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Violence sounds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 model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(PANNs or </a:t>
              </a:r>
              <a:r>
                <a:rPr lang="en-GB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VGGish</a:t>
              </a:r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CF9AFDA-5885-8288-6C14-B5F609B74119}"/>
                </a:ext>
              </a:extLst>
            </p:cNvPr>
            <p:cNvSpPr/>
            <p:nvPr/>
          </p:nvSpPr>
          <p:spPr>
            <a:xfrm>
              <a:off x="12479138" y="2980320"/>
              <a:ext cx="1435947" cy="104817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Frame-level violence score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AD48687-674F-DE7A-45F3-ADBF99BB7A36}"/>
                </a:ext>
              </a:extLst>
            </p:cNvPr>
            <p:cNvSpPr/>
            <p:nvPr/>
          </p:nvSpPr>
          <p:spPr>
            <a:xfrm>
              <a:off x="12479138" y="1041172"/>
              <a:ext cx="1435947" cy="97874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Temporal Violence Spike Detection</a:t>
              </a:r>
              <a:endPara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2935077-C223-487A-1AA7-C83DB2022F77}"/>
                </a:ext>
              </a:extLst>
            </p:cNvPr>
            <p:cNvSpPr/>
            <p:nvPr/>
          </p:nvSpPr>
          <p:spPr>
            <a:xfrm>
              <a:off x="2891287" y="3591747"/>
              <a:ext cx="2871894" cy="104163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Crowd action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detection model</a:t>
              </a:r>
            </a:p>
            <a:p>
              <a:pPr algn="ctr"/>
              <a:r>
                <a:rPr lang="en-GB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ResNet</a:t>
              </a:r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+ LSTM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95ECE28-ABFF-DE57-998F-F43334049DF2}"/>
                </a:ext>
              </a:extLst>
            </p:cNvPr>
            <p:cNvSpPr/>
            <p:nvPr/>
          </p:nvSpPr>
          <p:spPr>
            <a:xfrm>
              <a:off x="7946503" y="1280654"/>
              <a:ext cx="1259839" cy="19546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Fusion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Classifier</a:t>
              </a:r>
            </a:p>
            <a:p>
              <a:pPr algn="ctr"/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(per frame)</a:t>
              </a:r>
              <a:endPara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BB6810B-6A45-D471-CEE8-CE20520AFD26}"/>
                </a:ext>
              </a:extLst>
            </p:cNvPr>
            <p:cNvSpPr/>
            <p:nvPr/>
          </p:nvSpPr>
          <p:spPr>
            <a:xfrm>
              <a:off x="11150751" y="1290243"/>
              <a:ext cx="866987" cy="1935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FC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Layer</a:t>
              </a:r>
            </a:p>
          </p:txBody>
        </p: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8D90B491-834A-0559-8AC1-0C4D23321961}"/>
                </a:ext>
              </a:extLst>
            </p:cNvPr>
            <p:cNvCxnSpPr>
              <a:cxnSpLocks/>
              <a:stCxn id="5" idx="3"/>
              <a:endCxn id="18" idx="1"/>
            </p:cNvCxnSpPr>
            <p:nvPr/>
          </p:nvCxnSpPr>
          <p:spPr>
            <a:xfrm>
              <a:off x="2247821" y="1185665"/>
              <a:ext cx="643466" cy="106835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E0743D26-CA77-AE81-5D0C-7651F1BAA676}"/>
                </a:ext>
              </a:extLst>
            </p:cNvPr>
            <p:cNvCxnSpPr>
              <a:cxnSpLocks/>
              <a:stCxn id="4" idx="3"/>
              <a:endCxn id="18" idx="1"/>
            </p:cNvCxnSpPr>
            <p:nvPr/>
          </p:nvCxnSpPr>
          <p:spPr>
            <a:xfrm flipV="1">
              <a:off x="2247822" y="2254020"/>
              <a:ext cx="643465" cy="110701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AC2346AC-E6ED-C930-8DE4-1D7AAE32AF0F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12025325" y="1530545"/>
              <a:ext cx="453813" cy="720655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B426A148-90AF-BC26-4089-C553BA5634F0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12025325" y="2251200"/>
              <a:ext cx="453813" cy="1253206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24D9ED90-D995-A284-A713-4BCDB881ECB8}"/>
                </a:ext>
              </a:extLst>
            </p:cNvPr>
            <p:cNvCxnSpPr>
              <a:cxnSpLocks/>
              <a:stCxn id="80" idx="3"/>
              <a:endCxn id="62" idx="1"/>
            </p:cNvCxnSpPr>
            <p:nvPr/>
          </p:nvCxnSpPr>
          <p:spPr>
            <a:xfrm>
              <a:off x="9312978" y="2256724"/>
              <a:ext cx="461400" cy="12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893C2C9-6239-FAD7-7F09-C5E38D2909FB}"/>
                </a:ext>
              </a:extLst>
            </p:cNvPr>
            <p:cNvSpPr/>
            <p:nvPr/>
          </p:nvSpPr>
          <p:spPr>
            <a:xfrm>
              <a:off x="6210631" y="688956"/>
              <a:ext cx="1347076" cy="60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Weapon Score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590E4A3-63C9-DCEE-7C8C-C8FA4DB9650D}"/>
                </a:ext>
              </a:extLst>
            </p:cNvPr>
            <p:cNvSpPr/>
            <p:nvPr/>
          </p:nvSpPr>
          <p:spPr>
            <a:xfrm>
              <a:off x="6210631" y="1529838"/>
              <a:ext cx="1347076" cy="60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Action score</a:t>
              </a:r>
              <a:endPara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69EA8B1-EDFC-4C54-1E80-A0DE9711C5A2}"/>
                </a:ext>
              </a:extLst>
            </p:cNvPr>
            <p:cNvSpPr/>
            <p:nvPr/>
          </p:nvSpPr>
          <p:spPr>
            <a:xfrm>
              <a:off x="6210630" y="2370720"/>
              <a:ext cx="1347076" cy="60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Sound score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6EF834C-E8E0-BA60-4E30-C2F8161783F8}"/>
                </a:ext>
              </a:extLst>
            </p:cNvPr>
            <p:cNvSpPr/>
            <p:nvPr/>
          </p:nvSpPr>
          <p:spPr>
            <a:xfrm>
              <a:off x="6210627" y="3211172"/>
              <a:ext cx="1347078" cy="6096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Crowd score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B1E1269-5ABA-4B00-B697-7022DE139781}"/>
                </a:ext>
              </a:extLst>
            </p:cNvPr>
            <p:cNvSpPr/>
            <p:nvPr/>
          </p:nvSpPr>
          <p:spPr>
            <a:xfrm>
              <a:off x="6210627" y="688957"/>
              <a:ext cx="1347078" cy="31318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659155DB-8943-6EBD-9657-FE33AD66C383}"/>
                </a:ext>
              </a:extLst>
            </p:cNvPr>
            <p:cNvCxnSpPr>
              <a:cxnSpLocks/>
              <a:stCxn id="18" idx="3"/>
              <a:endCxn id="80" idx="1"/>
            </p:cNvCxnSpPr>
            <p:nvPr/>
          </p:nvCxnSpPr>
          <p:spPr>
            <a:xfrm>
              <a:off x="5763181" y="2254020"/>
              <a:ext cx="264564" cy="27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B9CBD73-E8DB-5752-17A9-67532F7FAB30}"/>
                </a:ext>
              </a:extLst>
            </p:cNvPr>
            <p:cNvSpPr/>
            <p:nvPr/>
          </p:nvSpPr>
          <p:spPr>
            <a:xfrm>
              <a:off x="9774378" y="1290243"/>
              <a:ext cx="866987" cy="1935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ResNet</a:t>
              </a:r>
              <a:endPara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or</a:t>
              </a:r>
            </a:p>
            <a:p>
              <a:pPr algn="ctr"/>
              <a:r>
                <a:rPr lang="en-GB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Conv1D</a:t>
              </a:r>
              <a:endPara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C78B1768-C15A-4CAB-60C0-99846F6AA2CF}"/>
                </a:ext>
              </a:extLst>
            </p:cNvPr>
            <p:cNvCxnSpPr>
              <a:stCxn id="62" idx="3"/>
              <a:endCxn id="15" idx="1"/>
            </p:cNvCxnSpPr>
            <p:nvPr/>
          </p:nvCxnSpPr>
          <p:spPr>
            <a:xfrm>
              <a:off x="10641365" y="2257983"/>
              <a:ext cx="5093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41460B35-FFCF-C608-BB34-AFEAF06E1B68}"/>
                </a:ext>
              </a:extLst>
            </p:cNvPr>
            <p:cNvCxnSpPr>
              <a:cxnSpLocks/>
              <a:stCxn id="41" idx="3"/>
              <a:endCxn id="13" idx="1"/>
            </p:cNvCxnSpPr>
            <p:nvPr/>
          </p:nvCxnSpPr>
          <p:spPr>
            <a:xfrm>
              <a:off x="7557705" y="2254865"/>
              <a:ext cx="388798" cy="31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EE16174-196C-E613-B481-294557880F80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4327234" y="907117"/>
              <a:ext cx="0" cy="231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97A915BC-FBDD-1EBE-7A1E-75664328CDAF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4327234" y="2142965"/>
              <a:ext cx="0" cy="2221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55BC563F-01A0-CFA8-703E-2BEBF3407A8C}"/>
                </a:ext>
              </a:extLst>
            </p:cNvPr>
            <p:cNvCxnSpPr>
              <a:stCxn id="9" idx="2"/>
              <a:endCxn id="12" idx="0"/>
            </p:cNvCxnSpPr>
            <p:nvPr/>
          </p:nvCxnSpPr>
          <p:spPr>
            <a:xfrm>
              <a:off x="4327234" y="3332813"/>
              <a:ext cx="0" cy="25893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AA902FD0-7546-A5EC-5462-4C35196F7C2D}"/>
                </a:ext>
              </a:extLst>
            </p:cNvPr>
            <p:cNvCxnSpPr>
              <a:cxnSpLocks/>
              <a:stCxn id="3" idx="2"/>
              <a:endCxn id="6" idx="0"/>
            </p:cNvCxnSpPr>
            <p:nvPr/>
          </p:nvCxnSpPr>
          <p:spPr>
            <a:xfrm>
              <a:off x="6884169" y="1298556"/>
              <a:ext cx="0" cy="231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977B1ED6-5A4F-F516-609E-BB8D50EC7DFC}"/>
                </a:ext>
              </a:extLst>
            </p:cNvPr>
            <p:cNvCxnSpPr>
              <a:cxnSpLocks/>
              <a:stCxn id="6" idx="2"/>
              <a:endCxn id="16" idx="0"/>
            </p:cNvCxnSpPr>
            <p:nvPr/>
          </p:nvCxnSpPr>
          <p:spPr>
            <a:xfrm flipH="1">
              <a:off x="6884168" y="2139438"/>
              <a:ext cx="1" cy="2312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4365DE7D-6F06-C3FA-6C1E-8D9A8E84CF27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6884166" y="2980320"/>
              <a:ext cx="2" cy="23085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3461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522</Words>
  <Application>Microsoft Office PowerPoint</Application>
  <PresentationFormat>와이드스크린</PresentationFormat>
  <Paragraphs>83</Paragraphs>
  <Slides>7</Slides>
  <Notes>1</Notes>
  <HiddenSlides>3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Aptos</vt:lpstr>
      <vt:lpstr>Arial</vt:lpstr>
      <vt:lpstr>Tahoma</vt:lpstr>
      <vt:lpstr>Office 테마</vt:lpstr>
      <vt:lpstr>Literature review so far</vt:lpstr>
      <vt:lpstr>Dataset used: XD-violence dataset</vt:lpstr>
      <vt:lpstr>Modular neural network architecture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Taejin Kim</dc:creator>
  <cp:lastModifiedBy>Taejin Kim</cp:lastModifiedBy>
  <cp:revision>3</cp:revision>
  <dcterms:created xsi:type="dcterms:W3CDTF">2025-05-21T05:46:48Z</dcterms:created>
  <dcterms:modified xsi:type="dcterms:W3CDTF">2025-05-23T12:02:41Z</dcterms:modified>
</cp:coreProperties>
</file>